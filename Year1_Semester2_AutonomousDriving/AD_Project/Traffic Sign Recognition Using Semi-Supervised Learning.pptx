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embeddedFontLst>
    <p:embeddedFont>
      <p:font typeface="Inter SemiBold"/>
      <p:regular r:id="rId31"/>
      <p:bold r:id="rId32"/>
      <p:italic r:id="rId33"/>
      <p:boldItalic r:id="rId34"/>
    </p:embeddedFont>
    <p:embeddedFont>
      <p:font typeface="Inter"/>
      <p:regular r:id="rId35"/>
      <p:bold r:id="rId36"/>
      <p:italic r:id="rId37"/>
      <p:boldItalic r:id="rId38"/>
    </p:embeddedFont>
    <p:embeddedFont>
      <p:font typeface="Urbanist SemiBold"/>
      <p:regular r:id="rId39"/>
      <p:bold r:id="rId40"/>
      <p:italic r:id="rId41"/>
      <p:boldItalic r:id="rId42"/>
    </p:embeddedFont>
    <p:embeddedFont>
      <p:font typeface="Urbanist"/>
      <p:regular r:id="rId43"/>
      <p:bold r:id="rId44"/>
      <p:italic r:id="rId45"/>
      <p:boldItalic r:id="rId46"/>
    </p:embeddedFont>
    <p:embeddedFont>
      <p:font typeface="Inter Medium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SemiBold-bold.fntdata"/><Relationship Id="rId42" Type="http://schemas.openxmlformats.org/officeDocument/2006/relationships/font" Target="fonts/UrbanistSemiBold-boldItalic.fntdata"/><Relationship Id="rId41" Type="http://schemas.openxmlformats.org/officeDocument/2006/relationships/font" Target="fonts/UrbanistSemiBold-italic.fntdata"/><Relationship Id="rId44" Type="http://schemas.openxmlformats.org/officeDocument/2006/relationships/font" Target="fonts/Urbanist-bold.fntdata"/><Relationship Id="rId43" Type="http://schemas.openxmlformats.org/officeDocument/2006/relationships/font" Target="fonts/Urbanist-regular.fntdata"/><Relationship Id="rId46" Type="http://schemas.openxmlformats.org/officeDocument/2006/relationships/font" Target="fonts/Urbanist-boldItalic.fntdata"/><Relationship Id="rId45" Type="http://schemas.openxmlformats.org/officeDocument/2006/relationships/font" Target="fonts/Urbanis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InterMedium-bold.fntdata"/><Relationship Id="rId47" Type="http://schemas.openxmlformats.org/officeDocument/2006/relationships/font" Target="fonts/InterMedium-regular.fntdata"/><Relationship Id="rId49" Type="http://schemas.openxmlformats.org/officeDocument/2006/relationships/font" Target="fonts/Inter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SemiBold-regular.fntdata"/><Relationship Id="rId30" Type="http://schemas.openxmlformats.org/officeDocument/2006/relationships/slide" Target="slides/slide25.xml"/><Relationship Id="rId33" Type="http://schemas.openxmlformats.org/officeDocument/2006/relationships/font" Target="fonts/InterSemiBold-italic.fntdata"/><Relationship Id="rId32" Type="http://schemas.openxmlformats.org/officeDocument/2006/relationships/font" Target="fonts/InterSemiBold-bold.fntdata"/><Relationship Id="rId35" Type="http://schemas.openxmlformats.org/officeDocument/2006/relationships/font" Target="fonts/Inter-regular.fntdata"/><Relationship Id="rId34" Type="http://schemas.openxmlformats.org/officeDocument/2006/relationships/font" Target="fonts/InterSemiBold-boldItalic.fntdata"/><Relationship Id="rId37" Type="http://schemas.openxmlformats.org/officeDocument/2006/relationships/font" Target="fonts/Inter-italic.fntdata"/><Relationship Id="rId36" Type="http://schemas.openxmlformats.org/officeDocument/2006/relationships/font" Target="fonts/Inter-bold.fntdata"/><Relationship Id="rId39" Type="http://schemas.openxmlformats.org/officeDocument/2006/relationships/font" Target="fonts/UrbanistSemiBold-regular.fntdata"/><Relationship Id="rId38" Type="http://schemas.openxmlformats.org/officeDocument/2006/relationships/font" Target="fonts/Inter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font" Target="fonts/InterMedium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81ced5fa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e81ced5fa4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e81ced5fa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e81ced5fa4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e81ced5fa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e81ced5fa4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e81ced5fa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e81ced5fa4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e81ced5fa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e81ced5fa4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e81ced5fa4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e81ced5fa4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9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5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3.png"/><Relationship Id="rId8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28.png"/><Relationship Id="rId9" Type="http://schemas.openxmlformats.org/officeDocument/2006/relationships/image" Target="../media/image35.png"/><Relationship Id="rId5" Type="http://schemas.openxmlformats.org/officeDocument/2006/relationships/image" Target="../media/image38.png"/><Relationship Id="rId6" Type="http://schemas.openxmlformats.org/officeDocument/2006/relationships/image" Target="../media/image14.png"/><Relationship Id="rId7" Type="http://schemas.openxmlformats.org/officeDocument/2006/relationships/image" Target="../media/image20.png"/><Relationship Id="rId8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Relationship Id="rId4" Type="http://schemas.openxmlformats.org/officeDocument/2006/relationships/image" Target="../media/image21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27.png"/><Relationship Id="rId9" Type="http://schemas.openxmlformats.org/officeDocument/2006/relationships/image" Target="../media/image24.png"/><Relationship Id="rId5" Type="http://schemas.openxmlformats.org/officeDocument/2006/relationships/image" Target="../media/image40.png"/><Relationship Id="rId6" Type="http://schemas.openxmlformats.org/officeDocument/2006/relationships/image" Target="../media/image17.png"/><Relationship Id="rId7" Type="http://schemas.openxmlformats.org/officeDocument/2006/relationships/image" Target="../media/image36.png"/><Relationship Id="rId8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30.png"/><Relationship Id="rId5" Type="http://schemas.openxmlformats.org/officeDocument/2006/relationships/image" Target="../media/image22.png"/><Relationship Id="rId6" Type="http://schemas.openxmlformats.org/officeDocument/2006/relationships/image" Target="../media/image26.png"/><Relationship Id="rId7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37.png"/><Relationship Id="rId5" Type="http://schemas.openxmlformats.org/officeDocument/2006/relationships/image" Target="../media/image33.png"/><Relationship Id="rId6" Type="http://schemas.openxmlformats.org/officeDocument/2006/relationships/image" Target="../media/image31.png"/><Relationship Id="rId7" Type="http://schemas.openxmlformats.org/officeDocument/2006/relationships/image" Target="../media/image3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4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45.png"/><Relationship Id="rId5" Type="http://schemas.openxmlformats.org/officeDocument/2006/relationships/image" Target="../media/image55.png"/><Relationship Id="rId6" Type="http://schemas.openxmlformats.org/officeDocument/2006/relationships/image" Target="../media/image50.png"/><Relationship Id="rId7" Type="http://schemas.openxmlformats.org/officeDocument/2006/relationships/image" Target="../media/image4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44.png"/><Relationship Id="rId5" Type="http://schemas.openxmlformats.org/officeDocument/2006/relationships/image" Target="../media/image49.png"/><Relationship Id="rId6" Type="http://schemas.openxmlformats.org/officeDocument/2006/relationships/image" Target="../media/image42.png"/><Relationship Id="rId7" Type="http://schemas.openxmlformats.org/officeDocument/2006/relationships/image" Target="../media/image4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52.png"/><Relationship Id="rId5" Type="http://schemas.openxmlformats.org/officeDocument/2006/relationships/image" Target="../media/image58.png"/><Relationship Id="rId6" Type="http://schemas.openxmlformats.org/officeDocument/2006/relationships/image" Target="../media/image54.png"/><Relationship Id="rId7" Type="http://schemas.openxmlformats.org/officeDocument/2006/relationships/image" Target="../media/image4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Relationship Id="rId4" Type="http://schemas.openxmlformats.org/officeDocument/2006/relationships/image" Target="../media/image53.png"/><Relationship Id="rId5" Type="http://schemas.openxmlformats.org/officeDocument/2006/relationships/image" Target="../media/image57.png"/><Relationship Id="rId6" Type="http://schemas.openxmlformats.org/officeDocument/2006/relationships/image" Target="../media/image51.png"/><Relationship Id="rId7" Type="http://schemas.openxmlformats.org/officeDocument/2006/relationships/image" Target="../media/image5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Relationship Id="rId4" Type="http://schemas.openxmlformats.org/officeDocument/2006/relationships/image" Target="../media/image59.png"/><Relationship Id="rId5" Type="http://schemas.openxmlformats.org/officeDocument/2006/relationships/image" Target="../media/image61.png"/><Relationship Id="rId6" Type="http://schemas.openxmlformats.org/officeDocument/2006/relationships/image" Target="../media/image6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Relationship Id="rId4" Type="http://schemas.openxmlformats.org/officeDocument/2006/relationships/image" Target="../media/image4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095375" y="1903214"/>
            <a:ext cx="10001250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Traffic Sign Recognition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333500" y="2764184"/>
            <a:ext cx="952500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Using Semi-Supervised Learning with Virtual Adversarial Training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33500" y="4120306"/>
            <a:ext cx="9525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Hărăngus Paul-Andrei, Lupu Stefan and Todoran Ciprian Bogdan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333500" y="4567981"/>
            <a:ext cx="9525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Babeş-Bolyai University | Department of Computer Science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2825591" y="2287041"/>
            <a:ext cx="6540817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Introduction &amp; Context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524500" y="3496716"/>
            <a:ext cx="11430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762250" y="3839616"/>
            <a:ext cx="66675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role of Machine Learning in modern autonomous driving systems.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62162"/>
            <a:ext cx="52768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714375" y="20621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19150" y="2062162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Traffic sign recognition is a fundamental, safety-critical component of modern autonomous driving systems.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714363" y="3110662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19138" y="3110662"/>
            <a:ext cx="5038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Vehicles must accurately identify and interpret signs in real-time to make safe decisions.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714363" y="3863137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19138" y="3863137"/>
            <a:ext cx="5038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Failure to recognize signs accurately can result in severe consequences, such as ignoring speed limits or failing to yield.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714363" y="4920412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19138" y="4920412"/>
            <a:ext cx="5038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Traditional Supervised Learning (SL) offers strong performance but relies heavily on vast amounts of strictly labeled data.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71687"/>
            <a:ext cx="41338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Rise of </a:t>
            </a:r>
            <a:r>
              <a:rPr b="1" i="0" lang="en-US" sz="330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Autonomous Driving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24075"/>
            <a:ext cx="3486150" cy="3495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124075"/>
            <a:ext cx="3486150" cy="3495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124075"/>
            <a:ext cx="3486150" cy="34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923925" y="3190875"/>
            <a:ext cx="223027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Supervised Learning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923925" y="3609975"/>
            <a:ext cx="28003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Models train exclusively on fully labelled data. The objective is to learn a direct mapping to predict outputs for new, unseen data accurately.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4695825" y="3190875"/>
            <a:ext cx="247030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Unsupervised Learning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4695825" y="3609975"/>
            <a:ext cx="28003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Works strictly with unlabelled data. The algorithm independently discovers hidden structures, patterns, or relationships (e.g., clustering).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467725" y="3190875"/>
            <a:ext cx="188023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Semi-Supervised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467725" y="3609975"/>
            <a:ext cx="28003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powerful hybrid approach combining a small subset of costly labelled data with a vast, easily obtainable pool of unlabelled data.</a:t>
            </a:r>
            <a:endParaRPr/>
          </a:p>
        </p:txBody>
      </p:sp>
      <p:pic>
        <p:nvPicPr>
          <p:cNvPr descr="image.png" id="127" name="Google Shape;12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3925" y="2505075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5825" y="2505075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67725" y="2505075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Machine Learning </a:t>
            </a: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Paradigms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581025" y="581025"/>
            <a:ext cx="554069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Annotation </a:t>
            </a:r>
            <a:r>
              <a:rPr b="1" i="0" lang="en-US" sz="330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Bottleneck</a:t>
            </a:r>
            <a:endParaRPr/>
          </a:p>
        </p:txBody>
      </p:sp>
      <p:pic>
        <p:nvPicPr>
          <p:cNvPr descr="image.png" id="137" name="Google Shape;1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581025" y="2576512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 real-world autonomous driving, collecting and manually annotating massive datasets is notoriously expensive and time-consuming.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81025" y="3719512"/>
            <a:ext cx="52768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Semi-Supervised Learning (SSL) offers a critical solution, leveraging a small amount of labeled data alongside a vast pool of raw, unlabelled samples to drastically reduce human annotation effort.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2660570" y="2287041"/>
            <a:ext cx="6870858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Theoretical Foundations</a:t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5524500" y="3496716"/>
            <a:ext cx="11430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2762250" y="3839616"/>
            <a:ext cx="66675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Understanding Semi-Supervised Learning and Virtual Adversarial Training.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66937"/>
            <a:ext cx="5276850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66937"/>
            <a:ext cx="5276850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4129087"/>
            <a:ext cx="449580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4129087"/>
            <a:ext cx="4495800" cy="8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971550" y="2557462"/>
            <a:ext cx="472059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The Labelled Set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971550" y="3024187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 SSL, we begin with a traditional supervised dataset, containing input samples paired with their correct target labels.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6724650" y="2557462"/>
            <a:ext cx="472059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The Unlabelled Set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6724650" y="3024187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introduce an additional, much larger collection of samples without labels. SSL aims to extract structural info from this distribution.</a:t>
            </a:r>
            <a:endParaRPr/>
          </a:p>
        </p:txBody>
      </p:sp>
      <p:pic>
        <p:nvPicPr>
          <p:cNvPr descr="image.png" id="161" name="Google Shape;16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38350" y="4381500"/>
            <a:ext cx="2362200" cy="366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53833" y="4386113"/>
            <a:ext cx="1837283" cy="31447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Formulating </a:t>
            </a: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Semi-Supervised Learning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71675"/>
            <a:ext cx="3486150" cy="3800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971675"/>
            <a:ext cx="3486150" cy="3800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971675"/>
            <a:ext cx="3486150" cy="380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923925" y="3038475"/>
            <a:ext cx="130016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Smoothness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923925" y="3457575"/>
            <a:ext cx="28003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 points that reside close to each other in the input space have a high probability of sharing the exact same label.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4695825" y="3038475"/>
            <a:ext cx="13601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Low-Density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4695825" y="3457575"/>
            <a:ext cx="28003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 optimal decision boundary should pass through low-density regions, avoiding cutting through densely populated clusters of samples.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8467725" y="3038475"/>
            <a:ext cx="203025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Manifold &amp; Cluster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8467725" y="3457575"/>
            <a:ext cx="28003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High-dimensional data naturally lies on lower-dimensional manifolds, and grouped clusters are expected to belong to a unified class.</a:t>
            </a:r>
            <a:endParaRPr/>
          </a:p>
        </p:txBody>
      </p:sp>
      <p:pic>
        <p:nvPicPr>
          <p:cNvPr descr="image.png" id="178" name="Google Shape;17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3925" y="2352675"/>
            <a:ext cx="4476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5825" y="2352675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67725" y="2352675"/>
            <a:ext cx="5048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Core SSL </a:t>
            </a:r>
            <a:r>
              <a:rPr b="1" i="0" lang="en-US" sz="330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Assumptions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1884461" y="2423219"/>
            <a:ext cx="8422927" cy="224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VAT improves local distributional smoothness by training the model to resist the most harmful small perturbation around each data point, without requiring label information.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4357538" y="5044380"/>
            <a:ext cx="34766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— Based on Miyato et al. (2015)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1217711" y="2804219"/>
            <a:ext cx="32385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06B6D4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"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10650290" y="4853885"/>
            <a:ext cx="32385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06B6D4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"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Virtual Adversarial Training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2"/>
          <p:cNvSpPr txBox="1"/>
          <p:nvPr/>
        </p:nvSpPr>
        <p:spPr>
          <a:xfrm>
            <a:off x="581025" y="2021681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VAT aims to make a model's output stable against small input perturbations, ensuring Local Distributional Smoothness (LDS).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581025" y="3078956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calculates the virtual adversarial perturbation that maximizes the Kullback-Leibler (KL) divergence between the original prediction and the perturbed prediction: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581025" y="4969668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model is trained to minimize this divergence, smoothing the decision boundary effectively.</a:t>
            </a:r>
            <a:endParaRPr/>
          </a:p>
        </p:txBody>
      </p:sp>
      <p:pic>
        <p:nvPicPr>
          <p:cNvPr descr="image.png" id="200" name="Google Shape;20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1593" y="4364831"/>
            <a:ext cx="3795712" cy="26193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2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How </a:t>
            </a: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VAT</a:t>
            </a: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Works</a:t>
            </a:r>
            <a:endParaRPr/>
          </a:p>
        </p:txBody>
      </p:sp>
      <p:pic>
        <p:nvPicPr>
          <p:cNvPr descr="image.png" id="202" name="Google Shape;20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3"/>
          <p:cNvSpPr txBox="1"/>
          <p:nvPr/>
        </p:nvSpPr>
        <p:spPr>
          <a:xfrm>
            <a:off x="2005488" y="2469802"/>
            <a:ext cx="8181022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Methodology &amp; Architecture</a:t>
            </a:r>
            <a:endParaRPr/>
          </a:p>
        </p:txBody>
      </p:sp>
      <p:sp>
        <p:nvSpPr>
          <p:cNvPr id="209" name="Google Shape;209;p23"/>
          <p:cNvSpPr/>
          <p:nvPr/>
        </p:nvSpPr>
        <p:spPr>
          <a:xfrm>
            <a:off x="5524500" y="3679477"/>
            <a:ext cx="11430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3162300" y="4022377"/>
            <a:ext cx="5867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Datasets, Preprocessing, and Neural Network Models.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05000"/>
            <a:ext cx="34861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905000"/>
            <a:ext cx="34861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905000"/>
            <a:ext cx="34861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4"/>
          <p:cNvSpPr txBox="1"/>
          <p:nvPr/>
        </p:nvSpPr>
        <p:spPr>
          <a:xfrm>
            <a:off x="581025" y="4476750"/>
            <a:ext cx="34861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Scale &amp; Diversity: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Over 50,000 traffic sign images spanning across more than 40 distinct traffic sign classes.</a:t>
            </a:r>
            <a:endParaRPr/>
          </a:p>
        </p:txBody>
      </p:sp>
      <p:sp>
        <p:nvSpPr>
          <p:cNvPr id="220" name="Google Shape;220;p24"/>
          <p:cNvSpPr txBox="1"/>
          <p:nvPr/>
        </p:nvSpPr>
        <p:spPr>
          <a:xfrm>
            <a:off x="4352925" y="4476750"/>
            <a:ext cx="34861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Real-world Variables: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Includes heavy variations in illumination, angles, scale, rotation, and complex backgrounds.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8124825" y="4476750"/>
            <a:ext cx="34861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Benchmark Status: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widely recognized gold standard for testing deep learning models in autonomous driving tasks.</a:t>
            </a:r>
            <a:endParaRPr/>
          </a:p>
        </p:txBody>
      </p:sp>
      <p:pic>
        <p:nvPicPr>
          <p:cNvPr descr="image.png" id="222" name="Google Shape;222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0550" y="1914525"/>
            <a:ext cx="34671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62450" y="1914525"/>
            <a:ext cx="34671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34350" y="1914525"/>
            <a:ext cx="346710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1" i="0" lang="en-US" sz="330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GTSRB</a:t>
            </a: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Dataset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 txBox="1"/>
          <p:nvPr/>
        </p:nvSpPr>
        <p:spPr>
          <a:xfrm>
            <a:off x="2286000" y="2176462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Standardization: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Every raw image is meticulously resized to a consistent 48x48 pixel dimension, a strict requirement for neural network processing.</a:t>
            </a:r>
            <a:endParaRPr/>
          </a:p>
        </p:txBody>
      </p:sp>
      <p:sp>
        <p:nvSpPr>
          <p:cNvPr id="232" name="Google Shape;232;p25"/>
          <p:cNvSpPr txBox="1"/>
          <p:nvPr/>
        </p:nvSpPr>
        <p:spPr>
          <a:xfrm>
            <a:off x="2286000" y="3024187"/>
            <a:ext cx="8096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Geometric Augmentation: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During training, images are randomly rotated up to 15 degrees, shifted, zoomed or flipped to simulate imperfect real-world viewing angles.</a:t>
            </a:r>
            <a:endParaRPr/>
          </a:p>
        </p:txBody>
      </p:sp>
      <p:sp>
        <p:nvSpPr>
          <p:cNvPr id="233" name="Google Shape;233;p25"/>
          <p:cNvSpPr txBox="1"/>
          <p:nvPr/>
        </p:nvSpPr>
        <p:spPr>
          <a:xfrm>
            <a:off x="2286000" y="3871912"/>
            <a:ext cx="8096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Color Augmentation: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Brightness, contrast, saturation and hue are dynamically adjusted, successfully mimicking night driving, shadows or harsh sunlight.</a:t>
            </a:r>
            <a:endParaRPr/>
          </a:p>
        </p:txBody>
      </p:sp>
      <p:sp>
        <p:nvSpPr>
          <p:cNvPr id="234" name="Google Shape;234;p25"/>
          <p:cNvSpPr txBox="1"/>
          <p:nvPr/>
        </p:nvSpPr>
        <p:spPr>
          <a:xfrm>
            <a:off x="2286000" y="4719637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Normalization: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Pixel values are mathematically adjusted to fit within a standard scale utilizing the specific average colors of the GTSRB dataset, speeding up computation.</a:t>
            </a:r>
            <a:endParaRPr/>
          </a:p>
        </p:txBody>
      </p:sp>
      <p:pic>
        <p:nvPicPr>
          <p:cNvPr descr="image.png" id="235" name="Google Shape;23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190750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03847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88620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733925"/>
            <a:ext cx="2381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5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 </a:t>
            </a: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Preprocessing</a:t>
            </a: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Pipeline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76425"/>
            <a:ext cx="5276850" cy="399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876425"/>
            <a:ext cx="5276850" cy="399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6"/>
          <p:cNvSpPr txBox="1"/>
          <p:nvPr/>
        </p:nvSpPr>
        <p:spPr>
          <a:xfrm>
            <a:off x="971550" y="2266950"/>
            <a:ext cx="472059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Fully Connected Network (FCN)</a:t>
            </a:r>
            <a:endParaRPr/>
          </a:p>
        </p:txBody>
      </p:sp>
      <p:sp>
        <p:nvSpPr>
          <p:cNvPr id="248" name="Google Shape;248;p26"/>
          <p:cNvSpPr txBox="1"/>
          <p:nvPr/>
        </p:nvSpPr>
        <p:spPr>
          <a:xfrm>
            <a:off x="971550" y="2733675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traditional baseline architecture. It processes the 48x48x3 image by completely flattening it into a single one-dimensional array of 6,912 features.</a:t>
            </a:r>
            <a:endParaRPr/>
          </a:p>
        </p:txBody>
      </p:sp>
      <p:sp>
        <p:nvSpPr>
          <p:cNvPr id="249" name="Google Shape;249;p26"/>
          <p:cNvSpPr txBox="1"/>
          <p:nvPr/>
        </p:nvSpPr>
        <p:spPr>
          <a:xfrm>
            <a:off x="971550" y="4095750"/>
            <a:ext cx="4495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Utilizes two substantial hidden layers (1,200 neurons each) equipped with Batch Normalization, ReLU activation and Dropout before final output.</a:t>
            </a:r>
            <a:endParaRPr/>
          </a:p>
        </p:txBody>
      </p:sp>
      <p:sp>
        <p:nvSpPr>
          <p:cNvPr id="250" name="Google Shape;250;p26"/>
          <p:cNvSpPr txBox="1"/>
          <p:nvPr/>
        </p:nvSpPr>
        <p:spPr>
          <a:xfrm>
            <a:off x="6724650" y="2266950"/>
            <a:ext cx="472059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Small Convolutional Neural Network (SCNN)</a:t>
            </a:r>
            <a:endParaRPr/>
          </a:p>
        </p:txBody>
      </p:sp>
      <p:sp>
        <p:nvSpPr>
          <p:cNvPr id="251" name="Google Shape;251;p26"/>
          <p:cNvSpPr txBox="1"/>
          <p:nvPr/>
        </p:nvSpPr>
        <p:spPr>
          <a:xfrm>
            <a:off x="6724650" y="3057525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Purpose-built for spatial image processing. It deploys three dedicated Convolutional Blocks acting as visual filters to detect edges and complex shapes.</a:t>
            </a:r>
            <a:endParaRPr/>
          </a:p>
        </p:txBody>
      </p:sp>
      <p:sp>
        <p:nvSpPr>
          <p:cNvPr id="252" name="Google Shape;252;p26"/>
          <p:cNvSpPr txBox="1"/>
          <p:nvPr/>
        </p:nvSpPr>
        <p:spPr>
          <a:xfrm>
            <a:off x="6724650" y="4419600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Each block pairs two convolutional layers with Max Pooling to extract critical features efficiently, culminating in a linear classifier.</a:t>
            </a:r>
            <a:endParaRPr/>
          </a:p>
        </p:txBody>
      </p:sp>
      <p:sp>
        <p:nvSpPr>
          <p:cNvPr id="253" name="Google Shape;253;p26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Network </a:t>
            </a:r>
            <a:r>
              <a:rPr b="1" i="0" lang="en-US" sz="330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Architectures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491037"/>
            <a:ext cx="2536775" cy="17275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12033" y="1852910"/>
            <a:ext cx="2536775" cy="19713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3042" y="4491037"/>
            <a:ext cx="2536775" cy="19713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4050" y="2096690"/>
            <a:ext cx="2536775" cy="1727596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7"/>
          <p:cNvSpPr/>
          <p:nvPr/>
        </p:nvSpPr>
        <p:spPr>
          <a:xfrm>
            <a:off x="581025" y="3852862"/>
            <a:ext cx="1102995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7"/>
          <p:cNvSpPr txBox="1"/>
          <p:nvPr/>
        </p:nvSpPr>
        <p:spPr>
          <a:xfrm>
            <a:off x="727631" y="4691062"/>
            <a:ext cx="224356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1. Configuration</a:t>
            </a:r>
            <a:endParaRPr/>
          </a:p>
        </p:txBody>
      </p:sp>
      <p:sp>
        <p:nvSpPr>
          <p:cNvPr id="265" name="Google Shape;265;p27"/>
          <p:cNvSpPr txBox="1"/>
          <p:nvPr/>
        </p:nvSpPr>
        <p:spPr>
          <a:xfrm>
            <a:off x="781050" y="5043487"/>
            <a:ext cx="2136725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Optimizer (AdamW) with weight decay, paired with Cosine Annealing scheduler and Cross-Entropy loss.</a:t>
            </a:r>
            <a:endParaRPr/>
          </a:p>
        </p:txBody>
      </p:sp>
      <p:sp>
        <p:nvSpPr>
          <p:cNvPr id="266" name="Google Shape;266;p27"/>
          <p:cNvSpPr txBox="1"/>
          <p:nvPr/>
        </p:nvSpPr>
        <p:spPr>
          <a:xfrm>
            <a:off x="3558640" y="2052935"/>
            <a:ext cx="224356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2. Training Loop</a:t>
            </a:r>
            <a:endParaRPr/>
          </a:p>
        </p:txBody>
      </p:sp>
      <p:sp>
        <p:nvSpPr>
          <p:cNvPr id="267" name="Google Shape;267;p27"/>
          <p:cNvSpPr txBox="1"/>
          <p:nvPr/>
        </p:nvSpPr>
        <p:spPr>
          <a:xfrm>
            <a:off x="3612058" y="2405360"/>
            <a:ext cx="2136725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 processes mixed batches of labeled and unlabeled data, updating parameters via VAT and supervised loss.</a:t>
            </a:r>
            <a:endParaRPr/>
          </a:p>
        </p:txBody>
      </p:sp>
      <p:sp>
        <p:nvSpPr>
          <p:cNvPr id="268" name="Google Shape;268;p27"/>
          <p:cNvSpPr txBox="1"/>
          <p:nvPr/>
        </p:nvSpPr>
        <p:spPr>
          <a:xfrm>
            <a:off x="6389649" y="4691062"/>
            <a:ext cx="224356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3. Validation</a:t>
            </a:r>
            <a:endParaRPr/>
          </a:p>
        </p:txBody>
      </p:sp>
      <p:sp>
        <p:nvSpPr>
          <p:cNvPr id="269" name="Google Shape;269;p27"/>
          <p:cNvSpPr txBox="1"/>
          <p:nvPr/>
        </p:nvSpPr>
        <p:spPr>
          <a:xfrm>
            <a:off x="6443067" y="5043487"/>
            <a:ext cx="2136725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Performance evaluated on clean, unaugmented validation images to track true generalization and avoid overfitting.</a:t>
            </a:r>
            <a:endParaRPr/>
          </a:p>
        </p:txBody>
      </p:sp>
      <p:sp>
        <p:nvSpPr>
          <p:cNvPr id="270" name="Google Shape;270;p27"/>
          <p:cNvSpPr txBox="1"/>
          <p:nvPr/>
        </p:nvSpPr>
        <p:spPr>
          <a:xfrm>
            <a:off x="9220657" y="2296715"/>
            <a:ext cx="224356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4. Early Stopping</a:t>
            </a:r>
            <a:endParaRPr/>
          </a:p>
        </p:txBody>
      </p:sp>
      <p:sp>
        <p:nvSpPr>
          <p:cNvPr id="271" name="Google Shape;271;p27"/>
          <p:cNvSpPr txBox="1"/>
          <p:nvPr/>
        </p:nvSpPr>
        <p:spPr>
          <a:xfrm>
            <a:off x="9274075" y="2649140"/>
            <a:ext cx="2136725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If validation accuracy stalls for 15 consecutive epochs, training halts to preserve the best checkpoint state.</a:t>
            </a:r>
            <a:endParaRPr/>
          </a:p>
        </p:txBody>
      </p:sp>
      <p:sp>
        <p:nvSpPr>
          <p:cNvPr id="272" name="Google Shape;272;p27"/>
          <p:cNvSpPr/>
          <p:nvPr/>
        </p:nvSpPr>
        <p:spPr>
          <a:xfrm>
            <a:off x="1735112" y="40433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0F19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7"/>
          <p:cNvSpPr/>
          <p:nvPr/>
        </p:nvSpPr>
        <p:spPr>
          <a:xfrm>
            <a:off x="4566121" y="40433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0F19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7"/>
          <p:cNvSpPr/>
          <p:nvPr/>
        </p:nvSpPr>
        <p:spPr>
          <a:xfrm>
            <a:off x="7397129" y="40433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0F19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7"/>
          <p:cNvSpPr/>
          <p:nvPr/>
        </p:nvSpPr>
        <p:spPr>
          <a:xfrm>
            <a:off x="10228138" y="40433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0F19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7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Training</a:t>
            </a: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Pipeline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1" name="Google Shape;28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8"/>
          <p:cNvSpPr txBox="1"/>
          <p:nvPr/>
        </p:nvSpPr>
        <p:spPr>
          <a:xfrm>
            <a:off x="2910601" y="2469802"/>
            <a:ext cx="6370796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Experiments &amp; Results</a:t>
            </a:r>
            <a:endParaRPr/>
          </a:p>
        </p:txBody>
      </p:sp>
      <p:sp>
        <p:nvSpPr>
          <p:cNvPr id="283" name="Google Shape;283;p28"/>
          <p:cNvSpPr/>
          <p:nvPr/>
        </p:nvSpPr>
        <p:spPr>
          <a:xfrm>
            <a:off x="5524500" y="3679477"/>
            <a:ext cx="11430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8"/>
          <p:cNvSpPr txBox="1"/>
          <p:nvPr/>
        </p:nvSpPr>
        <p:spPr>
          <a:xfrm>
            <a:off x="3028950" y="4022377"/>
            <a:ext cx="61341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Evaluating VAT impact across varying supervision levels.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9"/>
          <p:cNvSpPr txBox="1"/>
          <p:nvPr/>
        </p:nvSpPr>
        <p:spPr>
          <a:xfrm>
            <a:off x="1132655" y="5881250"/>
            <a:ext cx="3439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9"/>
          <p:cNvSpPr txBox="1"/>
          <p:nvPr/>
        </p:nvSpPr>
        <p:spPr>
          <a:xfrm>
            <a:off x="581025" y="581025"/>
            <a:ext cx="1158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Dataset </a:t>
            </a:r>
            <a:r>
              <a:rPr b="1" i="0" lang="en-US" sz="330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Partitioning</a:t>
            </a: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Strategy</a:t>
            </a:r>
            <a:endParaRPr/>
          </a:p>
        </p:txBody>
      </p:sp>
      <p:sp>
        <p:nvSpPr>
          <p:cNvPr id="292" name="Google Shape;292;p29"/>
          <p:cNvSpPr txBox="1"/>
          <p:nvPr/>
        </p:nvSpPr>
        <p:spPr>
          <a:xfrm>
            <a:off x="952128" y="1739400"/>
            <a:ext cx="5457900" cy="42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GSTRB</a:t>
            </a:r>
            <a:r>
              <a:rPr i="1"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br>
              <a:rPr i="1"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1"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Train Directory </a:t>
            </a:r>
            <a:r>
              <a:rPr i="1"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(39,209 total images) split into:</a:t>
            </a:r>
            <a:endParaRPr i="1" sz="15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85% Training (33,328 samples) - </a:t>
            </a:r>
            <a:r>
              <a:rPr i="1"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64.3%</a:t>
            </a:r>
            <a:endParaRPr i="1" sz="15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15% Validation (5,881 samples)- </a:t>
            </a:r>
            <a:r>
              <a:rPr i="1"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11.3%</a:t>
            </a:r>
            <a:endParaRPr i="1" sz="15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i="1"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1"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 85/15 split maintains a robust pool for semi-supervised training while reserving a strict, unaugmented validation block to prevent overfitting and ensure objective accuracy tracking.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i="1"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1"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Test Set</a:t>
            </a:r>
            <a:r>
              <a:rPr i="1"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 loaded separately from the official GTSRB test files (12,630 samples) - 24.4% of the combined dataset.</a:t>
            </a:r>
            <a:endParaRPr i="1" sz="15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3" name="Google Shape;293;p29"/>
          <p:cNvSpPr txBox="1"/>
          <p:nvPr/>
        </p:nvSpPr>
        <p:spPr>
          <a:xfrm>
            <a:off x="6201025" y="1739400"/>
            <a:ext cx="54579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Artificial:</a:t>
            </a:r>
            <a:br>
              <a:rPr i="1"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1"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1000 Artificial Samples</a:t>
            </a:r>
            <a:br>
              <a:rPr i="1"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1"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70% for Training</a:t>
            </a:r>
            <a:br>
              <a:rPr i="1"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1"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15% for Validation</a:t>
            </a:r>
            <a:br>
              <a:rPr i="1"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1"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15% for Testing</a:t>
            </a:r>
            <a:endParaRPr i="1" sz="15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294" name="Google Shape;294;p29"/>
          <p:cNvPicPr preferRelativeResize="0"/>
          <p:nvPr/>
        </p:nvPicPr>
        <p:blipFill rotWithShape="1">
          <a:blip r:embed="rId4">
            <a:alphaModFix/>
          </a:blip>
          <a:srcRect b="19859" l="16066" r="48272" t="0"/>
          <a:stretch/>
        </p:blipFill>
        <p:spPr>
          <a:xfrm>
            <a:off x="7753025" y="3789925"/>
            <a:ext cx="2353901" cy="23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0"/>
          <p:cNvSpPr txBox="1"/>
          <p:nvPr/>
        </p:nvSpPr>
        <p:spPr>
          <a:xfrm>
            <a:off x="1132582" y="6169538"/>
            <a:ext cx="9926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 an artificially controlled environment completely devoid of labels, only the VAT models achieved meaningful decision boundaries, proving VAT's ability to learn strictly from data distribution structures.</a:t>
            </a:r>
            <a:endParaRPr/>
          </a:p>
        </p:txBody>
      </p:sp>
      <p:sp>
        <p:nvSpPr>
          <p:cNvPr id="301" name="Google Shape;301;p30"/>
          <p:cNvSpPr txBox="1"/>
          <p:nvPr/>
        </p:nvSpPr>
        <p:spPr>
          <a:xfrm>
            <a:off x="281925" y="104775"/>
            <a:ext cx="11628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Artificial Environment: </a:t>
            </a:r>
            <a:r>
              <a:rPr b="1" lang="en-US" sz="3300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0%, 25%, 50% and 100% Labeled Data</a:t>
            </a:r>
            <a:endParaRPr/>
          </a:p>
        </p:txBody>
      </p:sp>
      <p:pic>
        <p:nvPicPr>
          <p:cNvPr id="302" name="Google Shape;302;p30" title="NoLabel_FCN_Artifici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6269" y="612675"/>
            <a:ext cx="4429641" cy="274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0" title="Labelled_FCN_Artificia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5923" y="3360175"/>
            <a:ext cx="4429627" cy="274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0" title="50PC_FCN_Artificia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66275" y="3360176"/>
            <a:ext cx="4429625" cy="2747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0" title="25PC_FCN_Artificial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95908" y="612675"/>
            <a:ext cx="4429641" cy="2747499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0"/>
          <p:cNvSpPr txBox="1"/>
          <p:nvPr/>
        </p:nvSpPr>
        <p:spPr>
          <a:xfrm>
            <a:off x="281925" y="3044750"/>
            <a:ext cx="1036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FCN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1" name="Google Shape;31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1"/>
          <p:cNvSpPr txBox="1"/>
          <p:nvPr/>
        </p:nvSpPr>
        <p:spPr>
          <a:xfrm>
            <a:off x="1132582" y="6169538"/>
            <a:ext cx="9926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 an artificially controlled environment completely devoid of labels, only the VAT models achieved meaningful decision boundaries, proving VAT's ability to learn strictly from data distribution structures.</a:t>
            </a:r>
            <a:endParaRPr/>
          </a:p>
        </p:txBody>
      </p:sp>
      <p:sp>
        <p:nvSpPr>
          <p:cNvPr id="313" name="Google Shape;313;p31"/>
          <p:cNvSpPr txBox="1"/>
          <p:nvPr/>
        </p:nvSpPr>
        <p:spPr>
          <a:xfrm>
            <a:off x="281925" y="104775"/>
            <a:ext cx="11628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Artificial Environment: </a:t>
            </a:r>
            <a:r>
              <a:rPr b="1" lang="en-US" sz="3300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0%, 25%, 50% and 100% Labeled Data</a:t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148450" y="2790813"/>
            <a:ext cx="1318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Small</a:t>
            </a:r>
            <a:br>
              <a:rPr b="1" lang="en-US" sz="33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b="1" lang="en-US" sz="33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CNN</a:t>
            </a:r>
            <a:endParaRPr/>
          </a:p>
        </p:txBody>
      </p:sp>
      <p:pic>
        <p:nvPicPr>
          <p:cNvPr id="315" name="Google Shape;315;p31" title="25PC_CCN_Artifici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5927" y="612663"/>
            <a:ext cx="4479521" cy="2778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1" title="NoLabel_CCN_Artificia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16400" y="612663"/>
            <a:ext cx="4479521" cy="2778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1" title="Labelled_CCN_Artificia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5927" y="3391100"/>
            <a:ext cx="4479521" cy="2778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1" title="50PC_CCN_Artificial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16400" y="3391100"/>
            <a:ext cx="4479521" cy="2778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3" name="Google Shape;32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2"/>
          <p:cNvSpPr txBox="1"/>
          <p:nvPr/>
        </p:nvSpPr>
        <p:spPr>
          <a:xfrm>
            <a:off x="1132582" y="6169538"/>
            <a:ext cx="992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2"/>
          <p:cNvSpPr txBox="1"/>
          <p:nvPr/>
        </p:nvSpPr>
        <p:spPr>
          <a:xfrm>
            <a:off x="281925" y="104775"/>
            <a:ext cx="11628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GTSRB</a:t>
            </a: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b="1" lang="en-US" sz="3300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0%, 25%, 50% and 100% Labeled Data</a:t>
            </a:r>
            <a:endParaRPr/>
          </a:p>
        </p:txBody>
      </p:sp>
      <p:sp>
        <p:nvSpPr>
          <p:cNvPr id="326" name="Google Shape;326;p32"/>
          <p:cNvSpPr txBox="1"/>
          <p:nvPr/>
        </p:nvSpPr>
        <p:spPr>
          <a:xfrm>
            <a:off x="173175" y="3044750"/>
            <a:ext cx="1318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FCN</a:t>
            </a:r>
            <a:endParaRPr/>
          </a:p>
        </p:txBody>
      </p:sp>
      <p:pic>
        <p:nvPicPr>
          <p:cNvPr id="327" name="Google Shape;327;p32" title="25PC_FCN_GTSR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5932" y="612702"/>
            <a:ext cx="4479511" cy="2778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2" title="50PC_FCN_GTSRB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16400" y="3391133"/>
            <a:ext cx="4479511" cy="2778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2" title="Labelled_FCN_GTSRB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5932" y="3391133"/>
            <a:ext cx="4479511" cy="2778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2" title="NoLabel_FCN_GTSRB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16400" y="612689"/>
            <a:ext cx="4479511" cy="2778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5" name="Google Shape;33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3"/>
          <p:cNvSpPr txBox="1"/>
          <p:nvPr/>
        </p:nvSpPr>
        <p:spPr>
          <a:xfrm>
            <a:off x="1132582" y="6169538"/>
            <a:ext cx="992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3"/>
          <p:cNvSpPr txBox="1"/>
          <p:nvPr/>
        </p:nvSpPr>
        <p:spPr>
          <a:xfrm>
            <a:off x="281925" y="104775"/>
            <a:ext cx="11628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GTSRB</a:t>
            </a: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b="1" lang="en-US" sz="3300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0%, 25%, 50% and 100% Labeled Data</a:t>
            </a:r>
            <a:endParaRPr/>
          </a:p>
        </p:txBody>
      </p:sp>
      <p:sp>
        <p:nvSpPr>
          <p:cNvPr id="338" name="Google Shape;338;p33"/>
          <p:cNvSpPr txBox="1"/>
          <p:nvPr/>
        </p:nvSpPr>
        <p:spPr>
          <a:xfrm>
            <a:off x="148450" y="2790813"/>
            <a:ext cx="1318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Small</a:t>
            </a:r>
            <a:br>
              <a:rPr b="1" lang="en-US" sz="33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b="1" lang="en-US" sz="33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CNN</a:t>
            </a:r>
            <a:endParaRPr/>
          </a:p>
        </p:txBody>
      </p:sp>
      <p:pic>
        <p:nvPicPr>
          <p:cNvPr id="339" name="Google Shape;339;p33" title="NoLabel_SCNN_GTSR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6475" y="612688"/>
            <a:ext cx="4479521" cy="2778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33" title="25PC_SCNN_GTSRB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000" y="612688"/>
            <a:ext cx="4479521" cy="2778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33" title="50PC_SCNN_GTSRB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16475" y="3391125"/>
            <a:ext cx="4479521" cy="2778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3" title="Labelled_SCNN_GTSRB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96000" y="3391125"/>
            <a:ext cx="4479521" cy="2778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7" name="Google Shape;34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4"/>
          <p:cNvSpPr txBox="1"/>
          <p:nvPr/>
        </p:nvSpPr>
        <p:spPr>
          <a:xfrm>
            <a:off x="1132582" y="6169538"/>
            <a:ext cx="992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4"/>
          <p:cNvSpPr txBox="1"/>
          <p:nvPr/>
        </p:nvSpPr>
        <p:spPr>
          <a:xfrm>
            <a:off x="281925" y="104775"/>
            <a:ext cx="11628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External Classification Benchmarks</a:t>
            </a:r>
            <a:endParaRPr/>
          </a:p>
        </p:txBody>
      </p:sp>
      <p:pic>
        <p:nvPicPr>
          <p:cNvPr id="350" name="Google Shape;350;p34" title="resnet_accuracy_curv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513" y="727302"/>
            <a:ext cx="4129556" cy="272372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4"/>
          <p:cNvSpPr txBox="1"/>
          <p:nvPr/>
        </p:nvSpPr>
        <p:spPr>
          <a:xfrm>
            <a:off x="503532" y="3429000"/>
            <a:ext cx="33618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6825" lIns="96825" spcFirstLastPara="1" rIns="96825" wrap="square" tIns="968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95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ResNet18</a:t>
            </a:r>
            <a:endParaRPr sz="1483"/>
          </a:p>
        </p:txBody>
      </p:sp>
      <p:pic>
        <p:nvPicPr>
          <p:cNvPr id="352" name="Google Shape;352;p34" title="yolo11_accuracy_curv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09805" y="3932903"/>
            <a:ext cx="4129544" cy="272372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4"/>
          <p:cNvSpPr txBox="1"/>
          <p:nvPr/>
        </p:nvSpPr>
        <p:spPr>
          <a:xfrm>
            <a:off x="4415107" y="3284875"/>
            <a:ext cx="33618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6825" lIns="96825" spcFirstLastPara="1" rIns="96825" wrap="square" tIns="96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95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YOLO11n</a:t>
            </a:r>
            <a:endParaRPr sz="1483"/>
          </a:p>
        </p:txBody>
      </p:sp>
      <p:pic>
        <p:nvPicPr>
          <p:cNvPr id="354" name="Google Shape;354;p34" title="accuracy_curve_yolo26n_cl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53635" y="727300"/>
            <a:ext cx="4129552" cy="272372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4"/>
          <p:cNvSpPr txBox="1"/>
          <p:nvPr/>
        </p:nvSpPr>
        <p:spPr>
          <a:xfrm>
            <a:off x="8021232" y="3429000"/>
            <a:ext cx="33618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6825" lIns="96825" spcFirstLastPara="1" rIns="96825" wrap="square" tIns="968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95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YOLO26n</a:t>
            </a:r>
            <a:endParaRPr sz="1483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0" name="Google Shape;36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5"/>
          <p:cNvSpPr txBox="1"/>
          <p:nvPr/>
        </p:nvSpPr>
        <p:spPr>
          <a:xfrm>
            <a:off x="581025" y="3127988"/>
            <a:ext cx="52770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~100%</a:t>
            </a:r>
            <a:endParaRPr/>
          </a:p>
        </p:txBody>
      </p:sp>
      <p:sp>
        <p:nvSpPr>
          <p:cNvPr id="362" name="Google Shape;362;p35"/>
          <p:cNvSpPr txBox="1"/>
          <p:nvPr/>
        </p:nvSpPr>
        <p:spPr>
          <a:xfrm>
            <a:off x="581025" y="4651988"/>
            <a:ext cx="527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SCNN Peak Accuracy</a:t>
            </a:r>
            <a:endParaRPr/>
          </a:p>
        </p:txBody>
      </p:sp>
      <p:sp>
        <p:nvSpPr>
          <p:cNvPr id="363" name="Google Shape;363;p35"/>
          <p:cNvSpPr txBox="1"/>
          <p:nvPr/>
        </p:nvSpPr>
        <p:spPr>
          <a:xfrm>
            <a:off x="6334125" y="2252662"/>
            <a:ext cx="554069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Convolution Dominates</a:t>
            </a:r>
            <a:endParaRPr/>
          </a:p>
        </p:txBody>
      </p:sp>
      <p:sp>
        <p:nvSpPr>
          <p:cNvPr id="364" name="Google Shape;364;p35"/>
          <p:cNvSpPr txBox="1"/>
          <p:nvPr/>
        </p:nvSpPr>
        <p:spPr>
          <a:xfrm>
            <a:off x="6334125" y="2719387"/>
            <a:ext cx="52768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SCNN consistently outperformed the FCN across all experiments. This firmly validates the necessity of convolutional spatial feature extraction for complex image recognition tasks.</a:t>
            </a:r>
            <a:endParaRPr/>
          </a:p>
        </p:txBody>
      </p:sp>
      <p:sp>
        <p:nvSpPr>
          <p:cNvPr id="365" name="Google Shape;365;p35"/>
          <p:cNvSpPr txBox="1"/>
          <p:nvPr/>
        </p:nvSpPr>
        <p:spPr>
          <a:xfrm>
            <a:off x="6334125" y="4129087"/>
            <a:ext cx="52768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Virtual Adversarial Training (VAT) is highly effective when labels are scarce, accelerating convergence and significantly reducing the dependency on expensive manual data annotation.</a:t>
            </a:r>
            <a:endParaRPr/>
          </a:p>
        </p:txBody>
      </p:sp>
      <p:sp>
        <p:nvSpPr>
          <p:cNvPr id="366" name="Google Shape;366;p35"/>
          <p:cNvSpPr txBox="1"/>
          <p:nvPr/>
        </p:nvSpPr>
        <p:spPr>
          <a:xfrm>
            <a:off x="581025" y="570250"/>
            <a:ext cx="1158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/>
          </a:p>
        </p:txBody>
      </p:sp>
      <p:pic>
        <p:nvPicPr>
          <p:cNvPr id="367" name="Google Shape;36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0600" y="1586172"/>
            <a:ext cx="3257850" cy="135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2" name="Google Shape;37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6"/>
          <p:cNvSpPr txBox="1"/>
          <p:nvPr/>
        </p:nvSpPr>
        <p:spPr>
          <a:xfrm>
            <a:off x="305276" y="2379315"/>
            <a:ext cx="1158144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Questions &amp; Discussion</a:t>
            </a:r>
            <a:endParaRPr/>
          </a:p>
        </p:txBody>
      </p:sp>
      <p:sp>
        <p:nvSpPr>
          <p:cNvPr id="374" name="Google Shape;374;p36"/>
          <p:cNvSpPr txBox="1"/>
          <p:nvPr/>
        </p:nvSpPr>
        <p:spPr>
          <a:xfrm>
            <a:off x="581025" y="3484215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Thank you for exploring Semi-Supervised Learning in Autonomous Driving.</a:t>
            </a:r>
            <a:endParaRPr/>
          </a:p>
        </p:txBody>
      </p:sp>
      <p:sp>
        <p:nvSpPr>
          <p:cNvPr id="375" name="Google Shape;375;p36"/>
          <p:cNvSpPr txBox="1"/>
          <p:nvPr/>
        </p:nvSpPr>
        <p:spPr>
          <a:xfrm>
            <a:off x="581025" y="4230885"/>
            <a:ext cx="11030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B981"/>
                </a:solidFill>
                <a:latin typeface="Inter Medium"/>
                <a:ea typeface="Inter Medium"/>
                <a:cs typeface="Inter Medium"/>
                <a:sym typeface="Inter Medium"/>
              </a:rPr>
              <a:t>H</a:t>
            </a:r>
            <a:r>
              <a:rPr lang="en-US" sz="1650">
                <a:solidFill>
                  <a:srgbClr val="10B981"/>
                </a:solidFill>
                <a:latin typeface="Inter Medium"/>
                <a:ea typeface="Inter Medium"/>
                <a:cs typeface="Inter Medium"/>
                <a:sym typeface="Inter Medium"/>
              </a:rPr>
              <a:t>a</a:t>
            </a:r>
            <a:r>
              <a:rPr b="0" i="0" lang="en-US" sz="1650" u="none" cap="none" strike="noStrike">
                <a:solidFill>
                  <a:srgbClr val="10B981"/>
                </a:solidFill>
                <a:latin typeface="Inter Medium"/>
                <a:ea typeface="Inter Medium"/>
                <a:cs typeface="Inter Medium"/>
                <a:sym typeface="Inter Medium"/>
              </a:rPr>
              <a:t>r</a:t>
            </a:r>
            <a:r>
              <a:rPr lang="en-US" sz="1650">
                <a:solidFill>
                  <a:srgbClr val="10B981"/>
                </a:solidFill>
                <a:latin typeface="Inter Medium"/>
                <a:ea typeface="Inter Medium"/>
                <a:cs typeface="Inter Medium"/>
                <a:sym typeface="Inter Medium"/>
              </a:rPr>
              <a:t>a</a:t>
            </a:r>
            <a:r>
              <a:rPr b="0" i="0" lang="en-US" sz="1650" u="none" cap="none" strike="noStrike">
                <a:solidFill>
                  <a:srgbClr val="10B981"/>
                </a:solidFill>
                <a:latin typeface="Inter Medium"/>
                <a:ea typeface="Inter Medium"/>
                <a:cs typeface="Inter Medium"/>
                <a:sym typeface="Inter Medium"/>
              </a:rPr>
              <a:t>ngus Paul-Andrei | Lupu Stefan | Todoran Ciprian Bogdan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 txBox="1"/>
          <p:nvPr/>
        </p:nvSpPr>
        <p:spPr>
          <a:xfrm>
            <a:off x="581025" y="1184098"/>
            <a:ext cx="10924500" cy="5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[1] Bengio, Y., Goodfellow, I., Courville, A., et al., 2017. Deep learning. volume 1. MIT press Cambridge, MA, USA.</a:t>
            </a:r>
            <a:endParaRPr sz="10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[2] He, K., Zhang, X., Ren, S., Sun, J., 2016. Deep residual learning for image recognition, in: Proceedings of the IEEE conference on computer</a:t>
            </a:r>
            <a:endParaRPr sz="10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vision and pattern recognition, pp. 770–778.</a:t>
            </a:r>
            <a:endParaRPr sz="10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[3] Jocher, G., Qiu, J., Liu, M., Lyu, S., Akyon, F.C., Kalfaoglu, M.E., 2026. Ultralytics yolo26: Unified real-time end-to-end vision models.</a:t>
            </a:r>
            <a:endParaRPr sz="10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doi:10.48550/arXiv.2606.03748, arXiv:2606.03748.</a:t>
            </a:r>
            <a:endParaRPr sz="10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[4] Khanam, R., Hussain, M., 2024. Yolov11: An overview of the key architectural enhancements. arXiv preprint arXiv:2410.17725 .</a:t>
            </a:r>
            <a:endParaRPr sz="10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[5] Krizhevsky, A., Sutskever, I., Hinton, G.E., 2012. Imagenet classification with deep convolutional neural networks. Advances in neural</a:t>
            </a:r>
            <a:endParaRPr sz="10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information processing systems 25.</a:t>
            </a:r>
            <a:endParaRPr sz="10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[6] Loshchilov, I., Hutter, F., 2016. Sgdr: Stochastic gradient descent with warm restarts. arXiv preprint arXiv:1608.03983 .</a:t>
            </a:r>
            <a:endParaRPr sz="10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[7] Loshchilov, I., Hutter, F., 2017. Decoupled weight decay regularization. arXiv preprint arXiv:1711.05101 .</a:t>
            </a:r>
            <a:endParaRPr sz="10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[8] Mao, A., Mohri, M., Zhong, Y., 2023. Cross-entropy loss functions: Theoretical analysis and applications, in: International conference on</a:t>
            </a:r>
            <a:endParaRPr sz="10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Machine learning, pmlr. pp. 23803–23828.</a:t>
            </a:r>
            <a:endParaRPr sz="10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[9] Miyato, T., Maeda, S.i., Koyama, M., Nakae, K., Ishii, S., 2015. Distributional smoothing with virtual adversarial training. arXiv preprint</a:t>
            </a:r>
            <a:endParaRPr sz="10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arXiv:1507.00677 .</a:t>
            </a:r>
            <a:endParaRPr sz="10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[10] Nair, V., Hinton, G.E., 2010. Rectified linear units improve restricted boltzmann machines, in: Proceedings of the 27th international conference</a:t>
            </a:r>
            <a:endParaRPr sz="10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on machine learning (ICML-10), pp. 807–814.</a:t>
            </a:r>
            <a:endParaRPr sz="10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[11] Shorten, C., Khoshgoftaar, T.M., 2019. A survey on image data augmentation for deep learning. Journal of big data 6, 1–48.</a:t>
            </a:r>
            <a:endParaRPr sz="10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[12] Szegedy, C., Vanhoucke, V., Ioffe, S., Shlens, J., Wojna, Z., 2016. Rethinking the inception architecture for computer vision, in: Proceedings</a:t>
            </a:r>
            <a:endParaRPr sz="10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of the IEEE conference on computer vision and pattern recognition, pp. 2818–2826.</a:t>
            </a:r>
            <a:endParaRPr sz="10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[13] Tiron, G.Z., Poboroniuc, M.S., 2019. Neural network based traffic sign recognition for autonomous driving, in: 2019 International Conference</a:t>
            </a:r>
            <a:endParaRPr sz="10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on Electromechanical and Energy Systems (SIELMEN), IEEE. pp. 1–5.</a:t>
            </a:r>
            <a:endParaRPr sz="10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[14] Van Engelen, J.E., Hoos, H.H., 2020. A survey on semi-supervised learning. Machine learning 109, 373–440</a:t>
            </a:r>
            <a:endParaRPr sz="10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1" name="Google Shape;381;p37"/>
          <p:cNvSpPr txBox="1"/>
          <p:nvPr/>
        </p:nvSpPr>
        <p:spPr>
          <a:xfrm>
            <a:off x="581025" y="438447"/>
            <a:ext cx="1158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Bibliography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